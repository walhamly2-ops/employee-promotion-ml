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23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ohit8527kmr7518/employee-promtion-predi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935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Employee Promotion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Prediction Using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Machine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28529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EFF"/>
                </a:solidFill>
              </a:rPr>
              <a:t>HR Analytics Classification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3310128"/>
            <a:ext cx="2011680" cy="0"/>
          </a:xfrm>
          <a:prstGeom prst="line">
            <a:avLst/>
          </a:prstGeom>
          <a:noFill/>
          <a:ln w="381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4828032" y="5230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Prepared by : Waleed Alshammari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• June 2026</a:t>
            </a:r>
          </a:p>
          <a:p>
            <a:pPr marL="0" indent="0">
              <a:buNone/>
            </a:pP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828032" y="55961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Dataset: Kaggle Employee Promtion Prediction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Subject &amp; Dataset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What is being predicted and where the data comes from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</a:rPr>
              <a:t>SUBJECT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4937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3B56"/>
                </a:solidFill>
              </a:rPr>
              <a:t>Predict whether an employee will be promoted based on demographic, training, service, performance, and work-related attributes.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62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DATASET LINK</a:t>
            </a:r>
            <a:endParaRPr lang="en-US" sz="16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685800" y="31272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F4E7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Kaggle: Employee Promtion Prediction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4930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https://www.kaggle.com/datasets/rohit8527kmr7518/employee-promtion-prediction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6611112" y="1563624"/>
            <a:ext cx="177393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100,000 employee records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9125712" y="1563624"/>
            <a:ext cx="172821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43 original columns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446520" y="2670048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6611112" y="2816352"/>
            <a:ext cx="177393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Target: promoted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0 = no, 1 = yes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961120" y="2670048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/>
          <p:nvPr/>
        </p:nvSpPr>
        <p:spPr>
          <a:xfrm>
            <a:off x="9125712" y="2816352"/>
            <a:ext cx="172821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Binary classification</a:t>
            </a:r>
            <a:endParaRPr lang="en-US" sz="1320" dirty="0"/>
          </a:p>
        </p:txBody>
      </p:sp>
      <p:pic>
        <p:nvPicPr>
          <p:cNvPr id="18" name="Image 0" descr="/mnt/data/promo_assets/targ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4125903"/>
            <a:ext cx="4069080" cy="27320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Brief Description of the Project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Applying the machine learning lifecycle to an HR analytics problem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02920" y="844514"/>
            <a:ext cx="6211389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Explore and understand the employee promotion dataset.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Clean and prepare the data for machine learning.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Create useful features to improve prediction quality.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Train Logistic Regression and SVM (Support Vector Machine) models.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Evaluate models and interpret business insights for HR decision-making.</a:t>
            </a:r>
            <a:endParaRPr lang="en-US" sz="2000" dirty="0"/>
          </a:p>
        </p:txBody>
      </p:sp>
      <p:pic>
        <p:nvPicPr>
          <p:cNvPr id="6" name="Image 0" descr="/mnt/data/promo_assets/promotion_by_depa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09" y="1033271"/>
            <a:ext cx="5880294" cy="3474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5392" y="4572000"/>
            <a:ext cx="46177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3B56"/>
                </a:solidFill>
              </a:rPr>
              <a:t>Comment: Engineering has the highest promotion rate, while Support and HR have the lowest. This shows strong variation by department.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Project Phases and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The full process followed in Google Colab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777240" y="1344168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896112" y="14356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131673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Load Kaggle CSV into Colab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209397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896112" y="218541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Inspection &amp; 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06654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Check types, null values, duplicates</a:t>
            </a:r>
          </a:p>
        </p:txBody>
      </p:sp>
      <p:sp>
        <p:nvSpPr>
          <p:cNvPr id="13" name="Shape 11"/>
          <p:cNvSpPr/>
          <p:nvPr/>
        </p:nvSpPr>
        <p:spPr>
          <a:xfrm>
            <a:off x="777240" y="2843784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96112" y="293522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857501"/>
            <a:ext cx="3063240" cy="228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83B56"/>
                </a:solidFill>
              </a:rPr>
              <a:t>EDA (</a:t>
            </a:r>
            <a:r>
              <a:rPr lang="en-US" sz="1600" dirty="0">
                <a:solidFill>
                  <a:srgbClr val="64748B"/>
                </a:solidFill>
              </a:rPr>
              <a:t>Explore Distribute Analyze)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8163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(Explore distributions, relationships, imbalance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359359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896112" y="3685032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4840" y="356616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Create service and training related features</a:t>
            </a:r>
          </a:p>
        </p:txBody>
      </p:sp>
      <p:sp>
        <p:nvSpPr>
          <p:cNvPr id="21" name="Shape 19"/>
          <p:cNvSpPr/>
          <p:nvPr/>
        </p:nvSpPr>
        <p:spPr>
          <a:xfrm>
            <a:off x="777240" y="43434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896112" y="443484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Model Building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431596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070C0"/>
                </a:solidFill>
              </a:rPr>
              <a:t>Train Logistic Regression and SVM (Support Vector Machine)</a:t>
            </a:r>
          </a:p>
        </p:txBody>
      </p:sp>
      <p:sp>
        <p:nvSpPr>
          <p:cNvPr id="25" name="Shape 23"/>
          <p:cNvSpPr/>
          <p:nvPr/>
        </p:nvSpPr>
        <p:spPr>
          <a:xfrm>
            <a:off x="777240" y="5093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96112" y="518464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047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34840" y="506577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Compare metrics, confusion matrices, and feature importance</a:t>
            </a:r>
          </a:p>
        </p:txBody>
      </p:sp>
      <p:sp>
        <p:nvSpPr>
          <p:cNvPr id="29" name="Text 27"/>
          <p:cNvSpPr/>
          <p:nvPr/>
        </p:nvSpPr>
        <p:spPr>
          <a:xfrm>
            <a:off x="1371600" y="5897880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</a:rPr>
              <a:t>Output: a well-documented notebook and presentation that explain the workflow, results, and conclusions.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Dataset Inspection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85217"/>
            <a:ext cx="8778240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Basic structure and columns used for analysis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914400" y="1472184"/>
            <a:ext cx="177393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Rows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100,000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3364992" y="1472184"/>
            <a:ext cx="227685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Columns 43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6336792" y="1472184"/>
            <a:ext cx="172821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Numerical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36 columns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595360" y="132588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8759952" y="1472184"/>
            <a:ext cx="172821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Categorical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6 columns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77240" y="2743199"/>
            <a:ext cx="258775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KEY COLUMNS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999232"/>
            <a:ext cx="10872216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Performance: </a:t>
            </a:r>
            <a:r>
              <a:rPr lang="en-US" sz="2000" dirty="0">
                <a:solidFill>
                  <a:srgbClr val="111827"/>
                </a:solidFill>
              </a:rPr>
              <a:t>performance_score, performance_last_year, manager_rating, peer_feedback_score.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Workload: </a:t>
            </a:r>
            <a:r>
              <a:rPr lang="en-US" sz="2000" dirty="0">
                <a:solidFill>
                  <a:srgbClr val="111827"/>
                </a:solidFill>
              </a:rPr>
              <a:t>avg_monthly_hours, overtime_hours, tasks_completed.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Development: </a:t>
            </a:r>
            <a:r>
              <a:rPr lang="en-US" sz="2000" dirty="0">
                <a:solidFill>
                  <a:srgbClr val="111827"/>
                </a:solidFill>
              </a:rPr>
              <a:t>training_hours_last_year, certifications_count, skill_assessment_score.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HR/Compensation: </a:t>
            </a:r>
            <a:r>
              <a:rPr lang="en-US" sz="2000" dirty="0">
                <a:solidFill>
                  <a:srgbClr val="111827"/>
                </a:solidFill>
              </a:rPr>
              <a:t>salary, salary_increase_percent, bonus_last_year.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Target: </a:t>
            </a:r>
            <a:r>
              <a:rPr lang="en-US" sz="2000" dirty="0">
                <a:solidFill>
                  <a:srgbClr val="00B050"/>
                </a:solidFill>
              </a:rPr>
              <a:t>promoted</a:t>
            </a:r>
            <a:r>
              <a:rPr lang="en-US" sz="2000" dirty="0">
                <a:solidFill>
                  <a:srgbClr val="111827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Methods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Data preparation, feature engineering, and machine learning models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731520" y="1179584"/>
            <a:ext cx="3439427" cy="3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PREPROCESSING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754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Null values handled through imputation.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Numerical variables scaled for Logistic Regression.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Categorical variables one-hot encoded.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Identifier columns such as employee_id removed.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19" y="3977640"/>
            <a:ext cx="3931920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FEATURE ENGINEERING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81144"/>
            <a:ext cx="5238206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Service-to-age ratio.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Training efficiency.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Conditionally created only when required columns exist.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E2B"/>
                </a:solidFill>
              </a:rPr>
              <a:t>MODELS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6611112" y="1837944"/>
            <a:ext cx="3602736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Logistic Regression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</a:rPr>
              <a:t>Interpretable baseline model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46520" y="306324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6611112" y="3209544"/>
            <a:ext cx="3602736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SVM (Support Vector Machine)</a:t>
            </a:r>
          </a:p>
          <a:p>
            <a:r>
              <a:rPr lang="en-US" sz="2000" b="1" dirty="0">
                <a:solidFill>
                  <a:srgbClr val="183B56"/>
                </a:solidFill>
              </a:rPr>
              <a:t>Captures non-linear patterns and interactions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3952" y="4892040"/>
            <a:ext cx="3840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</a:rPr>
              <a:t>Train/test split used stratification to preserve the 90/10 class distribution.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Statistical Methods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Methods applied to answer analytical questions and evaluate results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Descriptive statistics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703320" y="13441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Used to summarize columns and understand variable ranges.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Correlation analysis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03320" y="20574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Pearson correlation measured salary-performance relationship.</a:t>
            </a:r>
          </a:p>
        </p:txBody>
      </p:sp>
      <p:sp>
        <p:nvSpPr>
          <p:cNvPr id="9" name="Text 7"/>
          <p:cNvSpPr/>
          <p:nvPr/>
        </p:nvSpPr>
        <p:spPr>
          <a:xfrm>
            <a:off x="777240" y="2752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OLS regression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03320" y="27706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Tested whether salary predicts performance score.</a:t>
            </a:r>
          </a:p>
        </p:txBody>
      </p:sp>
      <p:sp>
        <p:nvSpPr>
          <p:cNvPr id="11" name="Text 9"/>
          <p:cNvSpPr/>
          <p:nvPr/>
        </p:nvSpPr>
        <p:spPr>
          <a:xfrm>
            <a:off x="777240" y="3465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Group means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03320" y="348386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Compared departments and remote work patterns.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" y="4178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Feature importance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41970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Identified drivers of promotion, manager rating, and peer feedback.</a:t>
            </a:r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Classification metrics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49103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Accuracy, precision, recall, F1-score, ROC-AUC.</a:t>
            </a:r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Model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Performance comparison between two classification models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Image 0" descr="/mnt/data/promo_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31" y="1240971"/>
            <a:ext cx="7376409" cy="43029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</a:rPr>
              <a:t>COMMENTS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35239" y="1524435"/>
            <a:ext cx="3833949" cy="348647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</a:rPr>
              <a:t>Logistic Regression achieved stronger overall balance: Accuracy 0.9283, F1-score 0.5740, ROC-AUC 0.9402.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</a:rPr>
              <a:t>SVM had higher precision for promoted employees, but very low recall of 0.0865.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</a:rPr>
              <a:t>Because promotion is imbalanced, F1-score and recall are important in addition to accuracy.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635240" y="5230368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" name="Text 6"/>
          <p:cNvSpPr/>
          <p:nvPr/>
        </p:nvSpPr>
        <p:spPr>
          <a:xfrm>
            <a:off x="7799832" y="5376672"/>
            <a:ext cx="3669356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83B56"/>
                </a:solidFill>
              </a:rPr>
              <a:t>Best practical model in this run: </a:t>
            </a:r>
            <a:r>
              <a:rPr lang="en-US" sz="1320" b="1" dirty="0">
                <a:solidFill>
                  <a:srgbClr val="00B050"/>
                </a:solidFill>
              </a:rPr>
              <a:t>Logistic Regression</a:t>
            </a:r>
            <a:endParaRPr lang="en-US" sz="1320" dirty="0">
              <a:solidFill>
                <a:srgbClr val="00B05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13" name="Rectangle 12"/>
          <p:cNvSpPr/>
          <p:nvPr/>
        </p:nvSpPr>
        <p:spPr>
          <a:xfrm>
            <a:off x="1181819" y="4980349"/>
            <a:ext cx="1025804" cy="1725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SVM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Result 1: Salary vs Performance Score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680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/>
              <a:t>Question 1: What is the relationship between an employee's salary and their performance score?</a:t>
            </a:r>
          </a:p>
        </p:txBody>
      </p:sp>
      <p:sp>
        <p:nvSpPr>
          <p:cNvPr id="4" name="Shape 2"/>
          <p:cNvSpPr/>
          <p:nvPr/>
        </p:nvSpPr>
        <p:spPr>
          <a:xfrm>
            <a:off x="360535" y="1143000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Image 0" descr="/mnt/data/promo_assets/salary_perf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54480"/>
            <a:ext cx="5583730" cy="3562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0887" y="5779007"/>
            <a:ext cx="10058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83B56"/>
                </a:solidFill>
              </a:rPr>
              <a:t>Comment: The relationship is statistically significant but practically weak. Salary alone is not a strong predictor of performance score.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5A9737-D70D-6CFC-1CF4-4C10733F2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35" y="1586484"/>
            <a:ext cx="5780471" cy="3675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Result 2: Remote Work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/>
              <a:t>Question 2: Does working remotely impact employee engagement and job satisfaction scores?</a:t>
            </a:r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987552" y="1472184"/>
            <a:ext cx="259689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Remote variable used: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remote_work_ratio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60520" y="132588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4325112" y="1472184"/>
            <a:ext cx="2852928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Outcomes analyzed: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employee_engagement_score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job_satisfaction_score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32588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7754112" y="1472184"/>
            <a:ext cx="273405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Method: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83B56"/>
                </a:solidFill>
              </a:rPr>
              <a:t>group comparison / correlation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486274"/>
            <a:ext cx="292608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IMPORTANT OBSERVATION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317" y="3008788"/>
            <a:ext cx="5860577" cy="163130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111827"/>
                </a:solidFill>
              </a:rPr>
              <a:t>The document output shows remote_work_ratio as a continuous variable with many unique values, not a simple 0/1 remote-work category. Therefore, the correct analysis should treat it as a ratio and compare its relationship with engagement and satisfaction scores.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686626"/>
            <a:ext cx="10424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83B56"/>
                </a:solidFill>
              </a:rPr>
              <a:t>Comment</a:t>
            </a:r>
            <a:r>
              <a:rPr lang="en-US" b="1" dirty="0">
                <a:solidFill>
                  <a:srgbClr val="00B050"/>
                </a:solidFill>
              </a:rPr>
              <a:t>: Further analysis should use correlation/regression or convert remote_work_ratio into categories such as Low, Medium, and High remote work before comparing average engagement and satisfaction</a:t>
            </a:r>
            <a:r>
              <a:rPr lang="en-US" b="1" dirty="0">
                <a:solidFill>
                  <a:srgbClr val="183B56"/>
                </a:solidFill>
              </a:rPr>
              <a:t>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DB9B0E-8C36-A86E-2B9D-252F7EDC6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83" y="2274213"/>
            <a:ext cx="5481587" cy="32099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Result 3: Promotion Rates and Key Drivers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46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/>
              <a:t>Question 3: Which departments have the highest rates of promotion, and what are the key drivers?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Image 0" descr="/mnt/data/promo_assets/promotion_by_depa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864" y="1546676"/>
            <a:ext cx="6396838" cy="36015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5652519"/>
            <a:ext cx="10607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3B56"/>
                </a:solidFill>
              </a:rPr>
              <a:t>Comment</a:t>
            </a:r>
            <a:r>
              <a:rPr lang="en-US" sz="1500" b="1" dirty="0">
                <a:solidFill>
                  <a:srgbClr val="00B050"/>
                </a:solidFill>
              </a:rPr>
              <a:t>: Engineering has the highest promotion rate at 33.2%. The most influential promotion drivers are recent performance, current performance score, tasks completed, KPI achievement, and salary.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Result 4: Burnout Across Teams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39" y="749808"/>
            <a:ext cx="113254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/>
              <a:t>Question 4: How does employee burnout look across different teams? (Analyzing Overtime vs. Training)</a:t>
            </a:r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Image 0" descr="/mnt/data/promo_assets/burnout_overtime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233" y="1554484"/>
            <a:ext cx="5974776" cy="35235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5788151"/>
            <a:ext cx="104241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3B56"/>
                </a:solidFill>
              </a:rPr>
              <a:t>Comment: </a:t>
            </a:r>
            <a:r>
              <a:rPr lang="en-US" sz="1500" b="1" dirty="0">
                <a:solidFill>
                  <a:srgbClr val="00B050"/>
                </a:solidFill>
              </a:rPr>
              <a:t>Engineering shows the highest average overtime hours. Training hours are similar across departments, so departments with higher overtime represent higher workload pressure and stronger burnout risk</a:t>
            </a:r>
            <a:r>
              <a:rPr lang="en-US" sz="1500" b="1" dirty="0">
                <a:solidFill>
                  <a:srgbClr val="183B56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Result 5: Rating and Peer Feedback Drivers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39" y="749808"/>
            <a:ext cx="116433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/>
              <a:t>Question 5: What factors most heavily influence an employee’s </a:t>
            </a:r>
            <a:r>
              <a:rPr lang="en-US" b="1" dirty="0" err="1"/>
              <a:t>manager_rating</a:t>
            </a:r>
            <a:r>
              <a:rPr lang="en-US" b="1" dirty="0"/>
              <a:t> and </a:t>
            </a:r>
            <a:r>
              <a:rPr lang="en-US" b="1" dirty="0" err="1"/>
              <a:t>peer_feedback_score</a:t>
            </a:r>
            <a:r>
              <a:rPr lang="en-US" b="1" dirty="0"/>
              <a:t>?</a:t>
            </a:r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Image 0" descr="/mnt/data/promo_assets/ratings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98168"/>
            <a:ext cx="8792173" cy="4516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9447" y="5493544"/>
            <a:ext cx="10505871" cy="123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83B56"/>
                </a:solidFill>
              </a:rPr>
              <a:t>The models show that performance_score dominates both manager and peer evaluation. Other variables have much smaller but still measurable influence.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13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83B56"/>
                </a:solidFill>
              </a:rPr>
              <a:t>Conclusion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2450592" y="334533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Main findings and final interpretation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111191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238397" y="958509"/>
            <a:ext cx="11568592" cy="364280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Machine learning </a:t>
            </a:r>
            <a:r>
              <a:rPr lang="en-US" sz="2400" dirty="0">
                <a:solidFill>
                  <a:srgbClr val="111827"/>
                </a:solidFill>
              </a:rPr>
              <a:t>can support HR analytics by identifying promotion patterns and important employee factors.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Logistic Regression </a:t>
            </a:r>
            <a:r>
              <a:rPr lang="en-US" sz="2400" dirty="0">
                <a:solidFill>
                  <a:srgbClr val="111827"/>
                </a:solidFill>
              </a:rPr>
              <a:t>performed better overall in this experiment, especially by F1-score and ROC-AUC.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Engineering had the highest promotion rate</a:t>
            </a:r>
            <a:r>
              <a:rPr lang="en-US" sz="2400" dirty="0">
                <a:solidFill>
                  <a:srgbClr val="111827"/>
                </a:solidFill>
              </a:rPr>
              <a:t>, and performance-related variables were the strongest promotion drivers.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Salary </a:t>
            </a:r>
            <a:r>
              <a:rPr lang="en-US" sz="2400" dirty="0">
                <a:solidFill>
                  <a:srgbClr val="111827"/>
                </a:solidFill>
              </a:rPr>
              <a:t>has a statistically significant but very weak relationship with performance score.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Burnout risk </a:t>
            </a:r>
            <a:r>
              <a:rPr lang="en-US" sz="2400" dirty="0">
                <a:solidFill>
                  <a:srgbClr val="111827"/>
                </a:solidFill>
              </a:rPr>
              <a:t>is highest where overtime is high, especially in Engineering.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Performance score </a:t>
            </a:r>
            <a:r>
              <a:rPr lang="en-US" sz="2400" dirty="0">
                <a:solidFill>
                  <a:srgbClr val="111827"/>
                </a:solidFill>
              </a:rPr>
              <a:t>is the most important factor influencing both manager rating and peer feedback score.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00032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takeaway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8397" y="4747389"/>
            <a:ext cx="11568592" cy="17338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00B050"/>
                </a:solidFill>
              </a:rPr>
              <a:t>Sum-up: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C00000"/>
                </a:solidFill>
              </a:rPr>
              <a:t>The project shows how data science can improve workforce planning and support fair, evidence-based promotion decisions.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Employee Promotion Prediction | Machine Learning Assignment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228832" y="643737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1185</Words>
  <Application>Microsoft Office PowerPoint</Application>
  <PresentationFormat>شاشة عريضة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Data Science Students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Promotion Prediction Using Machine Learning</dc:title>
  <dc:subject>Employee Promotion Prediction Using Machine Learning</dc:subject>
  <dc:creator>OpenAI</dc:creator>
  <cp:lastModifiedBy>وليد الشمري</cp:lastModifiedBy>
  <cp:revision>8</cp:revision>
  <dcterms:created xsi:type="dcterms:W3CDTF">2026-05-31T18:57:54Z</dcterms:created>
  <dcterms:modified xsi:type="dcterms:W3CDTF">2026-06-02T01:40:18Z</dcterms:modified>
</cp:coreProperties>
</file>